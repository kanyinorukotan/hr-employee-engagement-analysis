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Favorable %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8B8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8B8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8B8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8B8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F8B8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F8B8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F8B8D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F8B8D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Know what is expected</c:v>
                  </c:pt>
                  <c:pt idx="1">
                    <c:v>Supervisor cares about me</c:v>
                  </c:pt>
                  <c:pt idx="2">
                    <c:v>Inclusive department</c:v>
                  </c:pt>
                  <c:pt idx="3">
                    <c:v>Do what I do best</c:v>
                  </c:pt>
                  <c:pt idx="4">
                    <c:v>Mission makes job important</c:v>
                  </c:pt>
                  <c:pt idx="5">
                    <c:v>Learn and grow</c:v>
                  </c:pt>
                  <c:pt idx="6">
                    <c:v>Overall satisfied</c:v>
                  </c:pt>
                  <c:pt idx="7">
                    <c:v>Supervisor holds people accountable</c:v>
                  </c:pt>
                  <c:pt idx="8">
                    <c:v>Recent recognition or praise</c:v>
                  </c:pt>
                  <c:pt idx="9">
                    <c:v>Best friend at work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92.61</c:v>
                </c:pt>
                <c:pt idx="1">
                  <c:v>86.41</c:v>
                </c:pt>
                <c:pt idx="2">
                  <c:v>83.3</c:v>
                </c:pt>
                <c:pt idx="3">
                  <c:v>80.58</c:v>
                </c:pt>
                <c:pt idx="4">
                  <c:v>80.44</c:v>
                </c:pt>
                <c:pt idx="5">
                  <c:v>77.58</c:v>
                </c:pt>
                <c:pt idx="6">
                  <c:v>76.24</c:v>
                </c:pt>
                <c:pt idx="7">
                  <c:v>75</c:v>
                </c:pt>
                <c:pt idx="8">
                  <c:v>65.21</c:v>
                </c:pt>
                <c:pt idx="9">
                  <c:v>52.43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29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1E6EA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C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Favorable %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8B8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8B8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8B8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F6C7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Director</c:v>
                  </c:pt>
                  <c:pt idx="1">
                    <c:v>Manager</c:v>
                  </c:pt>
                  <c:pt idx="2">
                    <c:v>Supervisor</c:v>
                  </c:pt>
                  <c:pt idx="3">
                    <c:v>Unspecified</c:v>
                  </c:pt>
                  <c:pt idx="4">
                    <c:v>Staff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86.58</c:v>
                </c:pt>
                <c:pt idx="1">
                  <c:v>83.09</c:v>
                </c:pt>
                <c:pt idx="2">
                  <c:v>82.89</c:v>
                </c:pt>
                <c:pt idx="3">
                  <c:v>76.09</c:v>
                </c:pt>
                <c:pt idx="4">
                  <c:v>73.93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29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1E6EA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C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Favorable %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8B8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8B8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8B8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8B8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F8B8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5F6C7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5F6C7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5F6C7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5F6C7B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Communications Office</c:v>
                  </c:pt>
                  <c:pt idx="1">
                    <c:v>Emergency Management</c:v>
                  </c:pt>
                  <c:pt idx="2">
                    <c:v>Family Justice Center</c:v>
                  </c:pt>
                  <c:pt idx="3">
                    <c:v>Human Resources</c:v>
                  </c:pt>
                  <c:pt idx="4">
                    <c:v>Exec Office &amp; Directors</c:v>
                  </c:pt>
                  <c:pt idx="5">
                    <c:v>Parks and Recreation</c:v>
                  </c:pt>
                  <c:pt idx="6">
                    <c:v>Planning and Public Works</c:v>
                  </c:pt>
                  <c:pt idx="7">
                    <c:v>Clerk of Superior Court</c:v>
                  </c:pt>
                  <c:pt idx="8">
                    <c:v>District Court</c:v>
                  </c:pt>
                  <c:pt idx="9">
                    <c:v>Sheriff's Department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91.85</c:v>
                </c:pt>
                <c:pt idx="1">
                  <c:v>90.11</c:v>
                </c:pt>
                <c:pt idx="2">
                  <c:v>89.47</c:v>
                </c:pt>
                <c:pt idx="3">
                  <c:v>89.27</c:v>
                </c:pt>
                <c:pt idx="4">
                  <c:v>88.57</c:v>
                </c:pt>
                <c:pt idx="5">
                  <c:v>78.65</c:v>
                </c:pt>
                <c:pt idx="6">
                  <c:v>78.59</c:v>
                </c:pt>
                <c:pt idx="7">
                  <c:v>78.06</c:v>
                </c:pt>
                <c:pt idx="8">
                  <c:v>74.2</c:v>
                </c:pt>
                <c:pt idx="9">
                  <c:v>51.48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29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1E6EA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C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7FE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SURVEY INSIGHTS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82880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Employee Engagement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7490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and recommended actions from the survey dashboard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937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14,710 survey answers  |  21 departments  |  10 questions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is healthy overall, with clear weak spots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employees respond positively, but about one in four answers is unfavorable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8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77.3%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26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Favorable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83280" y="182880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20116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22.7%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926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Unfavorable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20116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3.07 / 4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926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score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052560" y="182880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52560" y="20116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99.1%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2926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11064240" cy="2194560"/>
          </a:xfrm>
          <a:prstGeom prst="roundRect">
            <a:avLst>
              <a:gd name="adj" fmla="val 50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1148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stands out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5262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average of 3.07 on a 4-point scale means most answers sit at "Agree" or above.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gaps are specific, not general: two questions, one role group and one department account for most of the concern (next slides).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0.9% of answers are blank, so the results rest on nearly complete data.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HR Employee Survey dashboard (14,710 survey answers, 21 departments, 10 questions)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Employees are clear on expectations but feel under-recognized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Favorable % by survey question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645920"/>
            <a:ext cx="3840480" cy="2103120"/>
          </a:xfrm>
          <a:prstGeom prst="roundRect">
            <a:avLst>
              <a:gd name="adj" fmla="val 5217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01000" y="1828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224028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92.6% know what is expected of them and 86.4% feel their supervisor cares about them.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772400" y="3931920"/>
            <a:ext cx="3840480" cy="2286000"/>
          </a:xfrm>
          <a:prstGeom prst="roundRect">
            <a:avLst>
              <a:gd name="adj" fmla="val 48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01000" y="4114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spots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452628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(65.2%) and having a best friend at work (52.4%) trail every other item. Overall satisfaction (76.2%) sits below six of the ten drivers.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HR Employee Survey dashboard (14,710 survey answers, 21 departments, 10 questions)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Satisfaction falls as you move down the hierarchy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Favorable % by role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4008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223760" y="1645920"/>
            <a:ext cx="4389120" cy="1463040"/>
          </a:xfrm>
          <a:prstGeom prst="roundRect">
            <a:avLst>
              <a:gd name="adj" fmla="val 75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52360" y="1828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12.7-point gap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452360" y="22402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Directors score 86.6% favorable versus 73.9% for Staff.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223760" y="3291840"/>
            <a:ext cx="4389120" cy="1554480"/>
          </a:xfrm>
          <a:prstGeom prst="roundRect">
            <a:avLst>
              <a:gd name="adj" fmla="val 7059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52360" y="3474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is the divide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452360" y="38862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"recent recognition", Directors score 92.9% and Staff 59.2%, a 33.7-point gap.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223760" y="5029200"/>
            <a:ext cx="4389120" cy="1188720"/>
          </a:xfrm>
          <a:prstGeom prst="roundRect">
            <a:avLst>
              <a:gd name="adj" fmla="val 9231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52360" y="5212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F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452360" y="5623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 of answers have no role recorded.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HR Employee Survey dashboard (14,710 survey answers, 21 departments, 10 questions)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Sheriff's Department is the clear outlier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Favorable % for the five highest and five lowest departments (overall: 77.3%)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5836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645920"/>
            <a:ext cx="4206240" cy="2651760"/>
          </a:xfrm>
          <a:prstGeom prst="roundRect">
            <a:avLst>
              <a:gd name="adj" fmla="val 4138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35240" y="1828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Sheriff's Department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635240" y="2240280"/>
            <a:ext cx="3749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51.5% favorable, about 26 points below the organization. Five questions fall below 50%: recognition (27.3%), overall satisfaction (36.3%), learning and growth (39.3%), accountability (47.4%) and mission (48.6%).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406640" y="4480560"/>
            <a:ext cx="4206240" cy="1737360"/>
          </a:xfrm>
          <a:prstGeom prst="roundRect">
            <a:avLst>
              <a:gd name="adj" fmla="val 6316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635240" y="4663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spots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35240" y="50749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Communications Office and Emergency Management top 90%. Family Justice Center has only about 40 answers, so treat its rank with care.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HR Employee Survey dashboard (14,710 survey answers, 21 departments, 10 questions)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actions to prioritize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next steps based on the findings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0116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recognition habit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43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frontline staff, where the recognition score is 59.2%. Simple, regular peer and manager shout-outs would be a start.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2011680"/>
            <a:ext cx="548640" cy="54864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20116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Sheriff's Department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743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listening sessions to find the cause of the five sub-50% scores before choosing a fix.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297680"/>
            <a:ext cx="548640" cy="54864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2976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team connection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29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"Best friend at work" is below 60% in 15 of 21 departments. Team-building and mentoring programs can help.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402336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4297680"/>
            <a:ext cx="548640" cy="54864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46520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42976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role in the next survey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5029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72% of answers unlabeled, role comparisons are only a partial view. Require the field next time.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HR Employee Survey dashboard (14,710 survey answers, 21 departments, 10 questions)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notes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10515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is one answer to one question, so results count answers, not people.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394 "Not Applicable" (2.7%) and 135 "No Response" (0.9%) answers are excluded from Favorable %, Unfavorable % and Average Score.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Executive Overview donut shows 3.6% "Not Applicable" because it merges both groups. Correct the category measure before presenting it.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departments such as Family Justice Center have few answers, so their percentages swing widely.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2026-10-01T13:11:51Z</dcterms:created>
  <dcterms:modified xsi:type="dcterms:W3CDTF">2026-10-01T13:11:51Z</dcterms:modified>
</cp:coreProperties>
</file>